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5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gmo, Ulrich" userId="e3cb8de5-f166-4c2c-a972-0f96f3976896" providerId="ADAL" clId="{21D79256-F284-4B84-AB00-DA7C2A785749}"/>
    <pc:docChg chg="modSld">
      <pc:chgData name="Dongmo, Ulrich" userId="e3cb8de5-f166-4c2c-a972-0f96f3976896" providerId="ADAL" clId="{21D79256-F284-4B84-AB00-DA7C2A785749}" dt="2026-08-10T09:03:54.209" v="0" actId="14100"/>
      <pc:docMkLst>
        <pc:docMk/>
      </pc:docMkLst>
      <pc:sldChg chg="modSp mod">
        <pc:chgData name="Dongmo, Ulrich" userId="e3cb8de5-f166-4c2c-a972-0f96f3976896" providerId="ADAL" clId="{21D79256-F284-4B84-AB00-DA7C2A785749}" dt="2026-08-10T09:03:54.209" v="0" actId="14100"/>
        <pc:sldMkLst>
          <pc:docMk/>
          <pc:sldMk cId="0" sldId="258"/>
        </pc:sldMkLst>
        <pc:picChg chg="mod">
          <ac:chgData name="Dongmo, Ulrich" userId="e3cb8de5-f166-4c2c-a972-0f96f3976896" providerId="ADAL" clId="{21D79256-F284-4B84-AB00-DA7C2A785749}" dt="2026-08-10T09:03:54.209" v="0" actId="14100"/>
          <ac:picMkLst>
            <pc:docMk/>
            <pc:sldMk cId="0" sldId="258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4711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B978"/>
          </a:solidFill>
          <a:ln w="12700">
            <a:solidFill>
              <a:srgbClr val="17B9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CLIMATE CANADA  •  INF4163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966960" y="656539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UQO — Été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0C7B0"/>
          </a:solidFill>
          <a:ln w="12700">
            <a:solidFill>
              <a:srgbClr val="10C7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68096" y="72237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CLIMATE CANADA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22402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8D6E5"/>
                </a:solidFill>
              </a:rPr>
              <a:t>Sensibilisation au réchauffement climatique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834640"/>
            <a:ext cx="2880360" cy="329184"/>
          </a:xfrm>
          <a:prstGeom prst="roundRect">
            <a:avLst>
              <a:gd name="adj" fmla="val 22222"/>
            </a:avLst>
          </a:prstGeom>
          <a:solidFill>
            <a:srgbClr val="1769FF"/>
          </a:solidFill>
          <a:ln w="12700">
            <a:solidFill>
              <a:srgbClr val="176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31520" y="2889504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PROJET DE FIN DE SESSION — INF4163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3337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4EF"/>
                </a:solidFill>
              </a:rPr>
              <a:t>Techniques de bases de données • Été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58064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D8"/>
                </a:solidFill>
              </a:rPr>
              <a:t>Diagne El Hadj Talla  •  Domingo Christophe Jules Ifede Vignon  •  Dongmo Ulrich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6144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98AC"/>
                </a:solidFill>
              </a:rPr>
              <a:t>Présentation — 10 août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33D"/>
                </a:solidFill>
              </a:rPr>
              <a:t>Objectif du projet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Transformer des données climatiques canadiennes en un système relationnel, interrogeable et visuel.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64008" cy="1234440"/>
          </a:xfrm>
          <a:prstGeom prst="rect">
            <a:avLst/>
          </a:prstGeom>
          <a:solidFill>
            <a:srgbClr val="E82D2D"/>
          </a:solidFill>
          <a:ln w="12700">
            <a:solidFill>
              <a:srgbClr val="E8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95528" y="158191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33D"/>
                </a:solidFill>
              </a:rPr>
              <a:t>Température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1920240"/>
            <a:ext cx="308152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50" dirty="0">
                <a:solidFill>
                  <a:srgbClr val="5F6B7A"/>
                </a:solidFill>
              </a:rPr>
              <a:t>13 provinces/territoires</a:t>
            </a:r>
            <a:endParaRPr lang="en-US" sz="1050" dirty="0"/>
          </a:p>
          <a:p>
            <a:r>
              <a:rPr lang="en-US" sz="1050" dirty="0">
                <a:solidFill>
                  <a:srgbClr val="5F6B7A"/>
                </a:solidFill>
              </a:rPr>
              <a:t>Données 2023–2025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64008" cy="1234440"/>
          </a:xfrm>
          <a:prstGeom prst="rect">
            <a:avLst/>
          </a:prstGeom>
          <a:solidFill>
            <a:srgbClr val="1769FF"/>
          </a:solidFill>
          <a:ln w="12700">
            <a:solidFill>
              <a:srgbClr val="176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90288" y="158191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33D"/>
                </a:solidFill>
              </a:rPr>
              <a:t>Précipitations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0288" y="1920240"/>
            <a:ext cx="308152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50" dirty="0">
                <a:solidFill>
                  <a:srgbClr val="5F6B7A"/>
                </a:solidFill>
              </a:rPr>
              <a:t>Moyennes annuelles</a:t>
            </a:r>
            <a:endParaRPr lang="en-US" sz="1050" dirty="0"/>
          </a:p>
          <a:p>
            <a:r>
              <a:rPr lang="en-US" sz="1050" dirty="0">
                <a:solidFill>
                  <a:srgbClr val="5F6B7A"/>
                </a:solidFill>
              </a:rPr>
              <a:t>Comparaisons 2023–2025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64008" cy="1234440"/>
          </a:xfrm>
          <a:prstGeom prst="rect">
            <a:avLst/>
          </a:prstGeom>
          <a:solidFill>
            <a:srgbClr val="167A5B"/>
          </a:solidFill>
          <a:ln w="12700">
            <a:solidFill>
              <a:srgbClr val="167A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385048" y="158191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33D"/>
                </a:solidFill>
              </a:rPr>
              <a:t>Pollution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85048" y="1920240"/>
            <a:ext cx="308152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50" dirty="0">
                <a:solidFill>
                  <a:srgbClr val="5F6B7A"/>
                </a:solidFill>
              </a:rPr>
              <a:t>Émissions de GES</a:t>
            </a:r>
            <a:endParaRPr lang="en-US" sz="1050" dirty="0"/>
          </a:p>
          <a:p>
            <a:r>
              <a:rPr lang="en-US" sz="1050" dirty="0">
                <a:solidFill>
                  <a:srgbClr val="5F6B7A"/>
                </a:solidFill>
              </a:rPr>
              <a:t>Mt CO₂e — données officielles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3063240"/>
            <a:ext cx="11018520" cy="2103120"/>
          </a:xfrm>
          <a:prstGeom prst="roundRect">
            <a:avLst>
              <a:gd name="adj" fmla="val 3478"/>
            </a:avLst>
          </a:prstGeom>
          <a:solidFill>
            <a:srgbClr val="08233D"/>
          </a:solidFill>
          <a:ln w="12700">
            <a:solidFill>
              <a:srgbClr val="0823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6868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Exigences couvertes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384048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E7F1"/>
                </a:solidFill>
              </a:rPr>
              <a:t>• 3 bases SQL Server distinctes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CE7F1"/>
                </a:solidFill>
              </a:rPr>
              <a:t>• Modèle relationnel normalisé avec clés PK/FK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CE7F1"/>
                </a:solidFill>
              </a:rPr>
              <a:t>• Scripts ETL Python pour nettoyage, transformation et validation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CE7F1"/>
                </a:solidFill>
              </a:rPr>
              <a:t>• Procédures stockées et déclencheurs SQL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CE7F1"/>
                </a:solidFill>
              </a:rPr>
              <a:t>• API REST FastAPI connectée par pyodbc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CE7F1"/>
                </a:solidFill>
              </a:rPr>
              <a:t>• Frontend React + Chart.js avec tableaux, graphiques et carte interactive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33D"/>
                </a:solidFill>
              </a:rPr>
              <a:t>Architecture logicielle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Une chaîne complète : sources officielles → ETL → SQL Server → API → interface utilisateur.</a:t>
            </a:r>
            <a:endParaRPr lang="en-US" sz="1100" dirty="0"/>
          </a:p>
        </p:txBody>
      </p:sp>
      <p:pic>
        <p:nvPicPr>
          <p:cNvPr id="4" name="Image 0" descr="/mnt/data/Screenshot 2026-08-10 0137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50331"/>
            <a:ext cx="11018520" cy="506758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33D"/>
                </a:solidFill>
              </a:rPr>
              <a:t>Modèle relationnel générique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Même logique de conception pour TemperatureDB, PrecipitationDB et PollutionDB.</a:t>
            </a:r>
            <a:endParaRPr lang="en-US" sz="1100" dirty="0"/>
          </a:p>
        </p:txBody>
      </p:sp>
      <p:pic>
        <p:nvPicPr>
          <p:cNvPr id="4" name="Image 0" descr="/mnt/data/Screenshot 2026-08-10 0045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1101852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7150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A"/>
                </a:solidFill>
              </a:rPr>
              <a:t>Principe : une province possède plusieurs mesures et une année regroupe plusieurs mesures. Les clés étrangères garantissent l’intégrité référentielle.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33D"/>
                </a:solidFill>
              </a:rPr>
              <a:t>Pipeline ETL et qualité des données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Les fichiers gouvernementaux sont préparés avant leur importation dans SQL Server.</a:t>
            </a:r>
            <a:endParaRPr lang="en-US" sz="1100" dirty="0"/>
          </a:p>
        </p:txBody>
      </p:sp>
      <p:pic>
        <p:nvPicPr>
          <p:cNvPr id="4" name="Image 0" descr="/mnt/data/Screenshot 2026-08-10 025127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1115568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5532120"/>
            <a:ext cx="10561320" cy="530352"/>
          </a:xfrm>
          <a:prstGeom prst="roundRect">
            <a:avLst>
              <a:gd name="adj" fmla="val 10345"/>
            </a:avLst>
          </a:prstGeom>
          <a:solidFill>
            <a:srgbClr val="EAF8F2"/>
          </a:solidFill>
          <a:ln w="12700">
            <a:solidFill>
              <a:srgbClr val="B8E8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1051560" y="5687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7A5B"/>
                </a:solidFill>
              </a:rPr>
              <a:t>Contrôles : encodage • colonnes • types • unités • doublons • valeurs manquantes • cohérence des séries annuelles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33D"/>
                </a:solidFill>
              </a:rPr>
              <a:t>Flux d’une requête utilisateur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Le frontend ne lit pas directement la base : il passe par l’API FastAPI.</a:t>
            </a:r>
            <a:endParaRPr lang="en-US" sz="1100" dirty="0"/>
          </a:p>
        </p:txBody>
      </p:sp>
      <p:pic>
        <p:nvPicPr>
          <p:cNvPr id="4" name="Image 0" descr="/mnt/data/Screenshot 2026-08-10 014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110185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5989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A"/>
                </a:solidFill>
              </a:rPr>
              <a:t>Ce découplage facilite la maintenance, la sécurité et l’évolution de l’application.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33D"/>
                </a:solidFill>
              </a:rPr>
              <a:t>Dashboard Climate Canada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Une interface unique pour explorer les données et accéder aux analyses.</a:t>
            </a:r>
            <a:endParaRPr lang="en-US" sz="1100" dirty="0"/>
          </a:p>
        </p:txBody>
      </p:sp>
      <p:pic>
        <p:nvPicPr>
          <p:cNvPr id="4" name="Image 0" descr="/mnt/data/Screenshot 2026-08-10 014830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07008"/>
            <a:ext cx="11109960" cy="5166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33D"/>
                </a:solidFill>
              </a:rPr>
              <a:t>Analyse — Températures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Exemple Québec : indicateurs annuels, évolution 2023–2025 et moyenne nationale.</a:t>
            </a:r>
            <a:endParaRPr lang="en-US" sz="1100" dirty="0"/>
          </a:p>
        </p:txBody>
      </p:sp>
      <p:pic>
        <p:nvPicPr>
          <p:cNvPr id="4" name="Image 0" descr="/mnt/data/Screenshot 2026-08-10 015014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07008"/>
            <a:ext cx="11137392" cy="51389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33D"/>
                </a:solidFill>
              </a:rPr>
              <a:t>Analyse — Précipitations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Visualisation par province/territoire et comparaison avec la moyenne nationale.</a:t>
            </a:r>
            <a:endParaRPr lang="en-US" sz="1100" dirty="0"/>
          </a:p>
        </p:txBody>
      </p:sp>
      <p:pic>
        <p:nvPicPr>
          <p:cNvPr id="4" name="Image 0" descr="/mnt/data/Screenshot 2026-08-10 015535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07008"/>
            <a:ext cx="11137392" cy="51389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33D"/>
                </a:solidFill>
              </a:rPr>
              <a:t>Analyse — Pollution / 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Les données 2025 sont explicitement marquées comme non disponibles afin d’éviter toute estimation artificielle.</a:t>
            </a:r>
            <a:endParaRPr lang="en-US" sz="1100" dirty="0"/>
          </a:p>
        </p:txBody>
      </p:sp>
      <p:pic>
        <p:nvPicPr>
          <p:cNvPr id="4" name="Image 0" descr="/mnt/data/Screenshot 2026-08-10 015631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07008"/>
            <a:ext cx="11137392" cy="51389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33D"/>
                </a:solidFill>
              </a:rPr>
              <a:t>Procédures stockées et résultats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Les analyses “plus/moins” sont calculées dans SQL Server puis exposées dans l’interface.</a:t>
            </a:r>
            <a:endParaRPr lang="en-US" sz="1100" dirty="0"/>
          </a:p>
        </p:txBody>
      </p:sp>
      <p:pic>
        <p:nvPicPr>
          <p:cNvPr id="4" name="Image 0" descr="/mnt/data/Screenshot 2026-08-10 0130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5532120" cy="4983480"/>
          </a:xfrm>
          <a:prstGeom prst="rect">
            <a:avLst/>
          </a:prstGeom>
        </p:spPr>
      </p:pic>
      <p:pic>
        <p:nvPicPr>
          <p:cNvPr id="5" name="Image 1" descr="/mnt/data/Screenshot 2026-08-10 0123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34440"/>
            <a:ext cx="5440680" cy="4983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33D"/>
                </a:solidFill>
              </a:rPr>
              <a:t>Équipe et contributions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Répartition des responsabilités telle qu’intégrée dans le dashboard du projet.</a:t>
            </a:r>
            <a:endParaRPr lang="en-US" sz="1100" dirty="0"/>
          </a:p>
        </p:txBody>
      </p:sp>
      <p:pic>
        <p:nvPicPr>
          <p:cNvPr id="4" name="Image 0" descr="/mnt/data/2c5ebf8a-26b7-422e-9813-fa728a290e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234440"/>
            <a:ext cx="548640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32588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6355080" y="1325880"/>
            <a:ext cx="64008" cy="1234440"/>
          </a:xfrm>
          <a:prstGeom prst="rect">
            <a:avLst/>
          </a:prstGeom>
          <a:solidFill>
            <a:srgbClr val="7B2CF3"/>
          </a:solidFill>
          <a:ln w="12700">
            <a:solidFill>
              <a:srgbClr val="7B2C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556248" y="1490472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33D"/>
                </a:solidFill>
              </a:rPr>
              <a:t>Diagne El Hadj Talla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56248" y="1828800"/>
            <a:ext cx="481888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50" dirty="0">
                <a:solidFill>
                  <a:srgbClr val="5F6B7A"/>
                </a:solidFill>
              </a:rPr>
              <a:t>Conception et mise en forme du PowerPoint</a:t>
            </a:r>
            <a:endParaRPr lang="en-US" sz="1050" dirty="0"/>
          </a:p>
          <a:p>
            <a:r>
              <a:rPr lang="en-US" sz="1050" dirty="0">
                <a:solidFill>
                  <a:srgbClr val="5F6B7A"/>
                </a:solidFill>
              </a:rPr>
              <a:t>Organisation et synthèse du contenu</a:t>
            </a:r>
            <a:endParaRPr lang="en-US" sz="1050" dirty="0"/>
          </a:p>
          <a:p>
            <a:r>
              <a:rPr lang="en-US" sz="1050" dirty="0">
                <a:solidFill>
                  <a:srgbClr val="5F6B7A"/>
                </a:solidFill>
              </a:rPr>
              <a:t>Préparation du support visuel et de la présentation orale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55080" y="2761488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6355080" y="2761488"/>
            <a:ext cx="64008" cy="1234440"/>
          </a:xfrm>
          <a:prstGeom prst="rect">
            <a:avLst/>
          </a:prstGeom>
          <a:solidFill>
            <a:srgbClr val="1769FF"/>
          </a:solidFill>
          <a:ln w="12700">
            <a:solidFill>
              <a:srgbClr val="176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556248" y="2926080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33D"/>
                </a:solidFill>
              </a:rPr>
              <a:t>Domingo Christophe Jules Ifede Vignon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56248" y="3264408"/>
            <a:ext cx="481888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50" dirty="0">
                <a:solidFill>
                  <a:srgbClr val="5F6B7A"/>
                </a:solidFill>
              </a:rPr>
              <a:t>Rédaction et mise en forme du rapport final</a:t>
            </a:r>
            <a:endParaRPr lang="en-US" sz="1050" dirty="0"/>
          </a:p>
          <a:p>
            <a:r>
              <a:rPr lang="en-US" sz="1050" dirty="0">
                <a:solidFill>
                  <a:srgbClr val="5F6B7A"/>
                </a:solidFill>
              </a:rPr>
              <a:t>Organisation de la documentation</a:t>
            </a:r>
            <a:endParaRPr lang="en-US" sz="1050" dirty="0"/>
          </a:p>
          <a:p>
            <a:r>
              <a:rPr lang="en-US" sz="1050" dirty="0">
                <a:solidFill>
                  <a:srgbClr val="5F6B7A"/>
                </a:solidFill>
              </a:rPr>
              <a:t>Intégration des résultats et captures pour la remise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55080" y="4197096"/>
            <a:ext cx="51663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6355080" y="4197096"/>
            <a:ext cx="64008" cy="1572768"/>
          </a:xfrm>
          <a:prstGeom prst="rect">
            <a:avLst/>
          </a:prstGeom>
          <a:solidFill>
            <a:srgbClr val="167A5B"/>
          </a:solidFill>
          <a:ln w="12700">
            <a:solidFill>
              <a:srgbClr val="167A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6556248" y="4361688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33D"/>
                </a:solidFill>
              </a:rPr>
              <a:t>Dongmo Ulrich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56248" y="4700016"/>
            <a:ext cx="4818888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50" dirty="0">
                <a:solidFill>
                  <a:srgbClr val="5F6B7A"/>
                </a:solidFill>
              </a:rPr>
              <a:t>Collecte et traitement des données climatiques</a:t>
            </a:r>
            <a:endParaRPr lang="en-US" sz="1050" dirty="0"/>
          </a:p>
          <a:p>
            <a:r>
              <a:rPr lang="en-US" sz="1050" dirty="0">
                <a:solidFill>
                  <a:srgbClr val="5F6B7A"/>
                </a:solidFill>
              </a:rPr>
              <a:t>Scripts ETL Python et bases SQL Server</a:t>
            </a:r>
            <a:endParaRPr lang="en-US" sz="1050" dirty="0"/>
          </a:p>
          <a:p>
            <a:r>
              <a:rPr lang="en-US" sz="1050" dirty="0">
                <a:solidFill>
                  <a:srgbClr val="5F6B7A"/>
                </a:solidFill>
              </a:rPr>
              <a:t>Procédures stockées / déclencheurs</a:t>
            </a:r>
            <a:endParaRPr lang="en-US" sz="1050" dirty="0"/>
          </a:p>
          <a:p>
            <a:r>
              <a:rPr lang="en-US" sz="1050" dirty="0">
                <a:solidFill>
                  <a:srgbClr val="5F6B7A"/>
                </a:solidFill>
              </a:rPr>
              <a:t>Backend FastAPI et frontend React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33D"/>
                </a:solidFill>
              </a:rPr>
              <a:t>Bilan et démonstration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Le projet couvre toute la chaîne de données, de la source officielle jusqu’à la visualisation.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30352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64008" cy="3520440"/>
          </a:xfrm>
          <a:prstGeom prst="rect">
            <a:avLst/>
          </a:prstGeom>
          <a:solidFill>
            <a:srgbClr val="167A5B"/>
          </a:solidFill>
          <a:ln w="12700">
            <a:solidFill>
              <a:srgbClr val="167A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86968" y="158191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33D"/>
                </a:solidFill>
              </a:rPr>
              <a:t>Ce qui fonctionne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1920240"/>
            <a:ext cx="4956048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50" dirty="0">
                <a:solidFill>
                  <a:srgbClr val="5F6B7A"/>
                </a:solidFill>
              </a:rPr>
              <a:t>3 bases SQL Server relationnelles</a:t>
            </a:r>
            <a:endParaRPr lang="en-US" sz="1050" dirty="0"/>
          </a:p>
          <a:p>
            <a:r>
              <a:rPr lang="en-US" sz="1050" dirty="0">
                <a:solidFill>
                  <a:srgbClr val="5F6B7A"/>
                </a:solidFill>
              </a:rPr>
              <a:t>ETL Python validé</a:t>
            </a:r>
            <a:endParaRPr lang="en-US" sz="1050" dirty="0"/>
          </a:p>
          <a:p>
            <a:r>
              <a:rPr lang="en-US" sz="1050" dirty="0">
                <a:solidFill>
                  <a:srgbClr val="5F6B7A"/>
                </a:solidFill>
              </a:rPr>
              <a:t>Procédures stockées et analyses</a:t>
            </a:r>
            <a:endParaRPr lang="en-US" sz="1050" dirty="0"/>
          </a:p>
          <a:p>
            <a:r>
              <a:rPr lang="en-US" sz="1050" dirty="0">
                <a:solidFill>
                  <a:srgbClr val="5F6B7A"/>
                </a:solidFill>
              </a:rPr>
              <a:t>API FastAPI connectée aux bases</a:t>
            </a:r>
            <a:endParaRPr lang="en-US" sz="1050" dirty="0"/>
          </a:p>
          <a:p>
            <a:r>
              <a:rPr lang="en-US" sz="1050" dirty="0">
                <a:solidFill>
                  <a:srgbClr val="5F6B7A"/>
                </a:solidFill>
              </a:rPr>
              <a:t>Frontend React + graphiques</a:t>
            </a:r>
            <a:endParaRPr lang="en-US" sz="1050" dirty="0"/>
          </a:p>
          <a:p>
            <a:r>
              <a:rPr lang="en-US" sz="1050" dirty="0">
                <a:solidFill>
                  <a:srgbClr val="5F6B7A"/>
                </a:solidFill>
              </a:rPr>
              <a:t>Résultats affichés en direct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30352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64008" cy="3520440"/>
          </a:xfrm>
          <a:prstGeom prst="rect">
            <a:avLst/>
          </a:prstGeom>
          <a:solidFill>
            <a:srgbClr val="1769FF"/>
          </a:solidFill>
          <a:ln w="12700">
            <a:solidFill>
              <a:srgbClr val="176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19088" y="158191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33D"/>
                </a:solidFill>
              </a:rPr>
              <a:t>Parcours de démonstration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19088" y="1920240"/>
            <a:ext cx="4956048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50" dirty="0">
                <a:solidFill>
                  <a:srgbClr val="5F6B7A"/>
                </a:solidFill>
              </a:rPr>
              <a:t>1. Ouvrir le Dashboard</a:t>
            </a:r>
            <a:endParaRPr lang="en-US" sz="1050" dirty="0"/>
          </a:p>
          <a:p>
            <a:r>
              <a:rPr lang="en-US" sz="1050" dirty="0">
                <a:solidFill>
                  <a:srgbClr val="5F6B7A"/>
                </a:solidFill>
              </a:rPr>
              <a:t>2. Explorer Température et Précipitations</a:t>
            </a:r>
            <a:endParaRPr lang="en-US" sz="1050" dirty="0"/>
          </a:p>
          <a:p>
            <a:r>
              <a:rPr lang="en-US" sz="1050" dirty="0">
                <a:solidFill>
                  <a:srgbClr val="5F6B7A"/>
                </a:solidFill>
              </a:rPr>
              <a:t>3. Montrer le traitement particulier de Pollution 2025</a:t>
            </a:r>
            <a:endParaRPr lang="en-US" sz="1050" dirty="0"/>
          </a:p>
          <a:p>
            <a:r>
              <a:rPr lang="en-US" sz="1050" dirty="0">
                <a:solidFill>
                  <a:srgbClr val="5F6B7A"/>
                </a:solidFill>
              </a:rPr>
              <a:t>4. Ouvrir Résultats</a:t>
            </a:r>
            <a:endParaRPr lang="en-US" sz="1050" dirty="0"/>
          </a:p>
          <a:p>
            <a:r>
              <a:rPr lang="en-US" sz="1050" dirty="0">
                <a:solidFill>
                  <a:srgbClr val="5F6B7A"/>
                </a:solidFill>
              </a:rPr>
              <a:t>5. Exécuter une procédure stockée dans SQL Server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534924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08233D"/>
          </a:solidFill>
          <a:ln w="12700">
            <a:solidFill>
              <a:srgbClr val="0823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343400" y="551383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Questions 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</Words>
  <Application>Microsoft Office PowerPoint</Application>
  <PresentationFormat>Grand écran</PresentationFormat>
  <Paragraphs>102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Aptos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UQO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Canada — Projet INF4163</dc:title>
  <dc:subject>Climate Canada</dc:subject>
  <dc:creator>Équipe INF4163</dc:creator>
  <cp:lastModifiedBy>Dongmo, Ulrich</cp:lastModifiedBy>
  <cp:revision>1</cp:revision>
  <dcterms:created xsi:type="dcterms:W3CDTF">2026-08-10T08:51:42Z</dcterms:created>
  <dcterms:modified xsi:type="dcterms:W3CDTF">2026-08-10T09:04:03Z</dcterms:modified>
</cp:coreProperties>
</file>